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8" r:id="rId5"/>
    <p:sldId id="261" r:id="rId6"/>
    <p:sldId id="259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8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机械课程</a:t>
            </a:r>
            <a:r>
              <a:rPr lang="zh-CN" altLang="zh-CN"/>
              <a:t>设计</a:t>
            </a:r>
            <a:br>
              <a:rPr lang="zh-CN" altLang="zh-CN"/>
            </a:b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机械设计角度推导杆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148" y="1150938"/>
            <a:ext cx="6040755" cy="47948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2800" y="115316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a:  81mm</a:t>
            </a:r>
            <a:endParaRPr lang="en-US" altLang="zh-CN"/>
          </a:p>
          <a:p>
            <a:r>
              <a:rPr lang="en-US" altLang="zh-CN"/>
              <a:t>b:  354mm</a:t>
            </a:r>
            <a:endParaRPr lang="en-US" altLang="zh-CN"/>
          </a:p>
          <a:p>
            <a:r>
              <a:rPr lang="en-US" altLang="zh-CN"/>
              <a:t>c:  232mm</a:t>
            </a:r>
            <a:endParaRPr lang="en-US" altLang="zh-CN"/>
          </a:p>
          <a:p>
            <a:r>
              <a:rPr lang="en-US" altLang="zh-CN"/>
              <a:t>d:  332mm</a:t>
            </a:r>
            <a:endParaRPr lang="en-US" altLang="zh-CN"/>
          </a:p>
          <a:p>
            <a:r>
              <a:rPr lang="en-US" altLang="zh-CN"/>
              <a:t>e:  356mm</a:t>
            </a:r>
            <a:endParaRPr lang="en-US" altLang="zh-CN"/>
          </a:p>
          <a:p>
            <a:r>
              <a:rPr lang="en-US" altLang="zh-CN"/>
              <a:t> f:  89mm</a:t>
            </a:r>
            <a:endParaRPr lang="en-US" altLang="zh-CN"/>
          </a:p>
          <a:p>
            <a:r>
              <a:rPr lang="en-US" altLang="zh-CN"/>
              <a:t>s:  450mm</a:t>
            </a:r>
            <a:endParaRPr lang="en-US" altLang="zh-CN"/>
          </a:p>
          <a:p>
            <a:r>
              <a:rPr lang="en-US" altLang="zh-CN"/>
              <a:t>H:  632mm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76400" y="9728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/>
              <a:t>行程阻力</a:t>
            </a:r>
            <a:r>
              <a:rPr lang="en-US" altLang="zh-CN" sz="2400"/>
              <a:t>Fr</a:t>
            </a:r>
            <a:r>
              <a:rPr lang="zh-CN" altLang="en-US" sz="2400"/>
              <a:t>：</a:t>
            </a:r>
            <a:r>
              <a:rPr lang="en-US" altLang="zh-CN" sz="2400"/>
              <a:t>2420N</a:t>
            </a:r>
            <a:endParaRPr lang="en-US" altLang="zh-CN" sz="2400"/>
          </a:p>
        </p:txBody>
      </p:sp>
      <p:sp>
        <p:nvSpPr>
          <p:cNvPr id="6" name="文本框 5"/>
          <p:cNvSpPr txBox="1"/>
          <p:nvPr/>
        </p:nvSpPr>
        <p:spPr>
          <a:xfrm>
            <a:off x="1676400" y="1772920"/>
            <a:ext cx="5435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/>
              <a:t>行程</a:t>
            </a:r>
            <a:r>
              <a:rPr lang="en-US" altLang="zh-CN" sz="2400"/>
              <a:t>S:450mm        </a:t>
            </a:r>
            <a:r>
              <a:rPr lang="zh-CN" altLang="en-US" sz="2400"/>
              <a:t>行程角：</a:t>
            </a:r>
            <a:r>
              <a:rPr lang="en-US" altLang="zh-CN" sz="2400"/>
              <a:t>45</a:t>
            </a:r>
            <a:r>
              <a:rPr lang="zh-CN" altLang="en-US" sz="2400"/>
              <a:t>°</a:t>
            </a:r>
            <a:endParaRPr lang="en-US" altLang="zh-CN" sz="2400"/>
          </a:p>
          <a:p>
            <a:pPr algn="l">
              <a:lnSpc>
                <a:spcPct val="150000"/>
              </a:lnSpc>
            </a:pPr>
            <a:endParaRPr lang="en-US" altLang="zh-CN" sz="2400"/>
          </a:p>
        </p:txBody>
      </p:sp>
      <p:sp>
        <p:nvSpPr>
          <p:cNvPr id="8" name="文本框 7"/>
          <p:cNvSpPr txBox="1"/>
          <p:nvPr/>
        </p:nvSpPr>
        <p:spPr>
          <a:xfrm>
            <a:off x="1676400" y="25730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/>
              <a:t>往复次数</a:t>
            </a:r>
            <a:r>
              <a:rPr lang="en-US" altLang="zh-CN" sz="2400"/>
              <a:t>N</a:t>
            </a:r>
            <a:r>
              <a:rPr lang="zh-CN" altLang="en-US" sz="2400"/>
              <a:t>：</a:t>
            </a:r>
            <a:r>
              <a:rPr lang="en-US" altLang="zh-CN" sz="2400"/>
              <a:t>40min</a:t>
            </a:r>
            <a:r>
              <a:rPr lang="en-US" altLang="zh-CN" sz="2400" baseline="30000"/>
              <a:t>-1</a:t>
            </a:r>
            <a:endParaRPr lang="en-US" altLang="zh-CN" sz="2400" baseline="30000"/>
          </a:p>
        </p:txBody>
      </p:sp>
      <p:sp>
        <p:nvSpPr>
          <p:cNvPr id="9" name="文本框 8"/>
          <p:cNvSpPr txBox="1"/>
          <p:nvPr/>
        </p:nvSpPr>
        <p:spPr>
          <a:xfrm>
            <a:off x="1676400" y="33731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/>
              <a:t>形成速比系数</a:t>
            </a:r>
            <a:r>
              <a:rPr lang="en-US" altLang="zh-CN" sz="2400"/>
              <a:t>K:1.15</a:t>
            </a:r>
            <a:endParaRPr lang="en-US" altLang="zh-CN" sz="2400"/>
          </a:p>
        </p:txBody>
      </p:sp>
      <p:sp>
        <p:nvSpPr>
          <p:cNvPr id="10" name="文本框 9"/>
          <p:cNvSpPr txBox="1"/>
          <p:nvPr/>
        </p:nvSpPr>
        <p:spPr>
          <a:xfrm>
            <a:off x="1676400" y="47885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/>
              <a:t>减速器采用</a:t>
            </a:r>
            <a:r>
              <a:rPr lang="en-US" altLang="zh-CN" sz="2400"/>
              <a:t>1</a:t>
            </a:r>
            <a:r>
              <a:rPr lang="zh-CN" altLang="en-US" sz="2400"/>
              <a:t>齿轮减速传动</a:t>
            </a:r>
            <a:endParaRPr lang="zh-CN" altLang="en-US" sz="2400"/>
          </a:p>
        </p:txBody>
      </p:sp>
      <p:sp>
        <p:nvSpPr>
          <p:cNvPr id="11" name="文本框 10"/>
          <p:cNvSpPr txBox="1"/>
          <p:nvPr/>
        </p:nvSpPr>
        <p:spPr>
          <a:xfrm>
            <a:off x="1676400" y="4173220"/>
            <a:ext cx="61779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极位夹角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θ：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2400"/>
              <a:t>最小传动角：45</a:t>
            </a:r>
            <a:r>
              <a:rPr lang="zh-CN" altLang="en-US" sz="2400"/>
              <a:t>°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7172325" y="2085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52500" y="121920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极位夹角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θ：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12.01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行程角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φ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44.94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最小传动角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行程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S: 449.42mm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高度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H: 631.85mm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66800" y="3695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行程误差：</a:t>
            </a:r>
            <a:r>
              <a:rPr lang="en-US" altLang="zh-CN"/>
              <a:t>0.12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％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 descr="机械设计杆长推导角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0" y="800100"/>
            <a:ext cx="5943600" cy="5257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51280" y="746760"/>
            <a:ext cx="52705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V</a:t>
            </a:r>
            <a:r>
              <a:rPr lang="zh-CN" altLang="en-US" sz="2400" baseline="-25000">
                <a:sym typeface="+mn-ea"/>
              </a:rPr>
              <a:t>f</a:t>
            </a:r>
            <a:r>
              <a:rPr lang="zh-CN" altLang="en-US" sz="2400">
                <a:sym typeface="+mn-ea"/>
              </a:rPr>
              <a:t>=2NS/60=599.23mm/s=0.59923m/s</a:t>
            </a:r>
            <a:endParaRPr lang="zh-CN" altLang="en-US" sz="2400">
              <a:sym typeface="+mn-ea"/>
            </a:endParaRPr>
          </a:p>
          <a:p>
            <a:endParaRPr lang="zh-CN" altLang="en-US" sz="2400"/>
          </a:p>
          <a:p>
            <a:r>
              <a:rPr lang="zh-CN" altLang="en-US" sz="2400"/>
              <a:t>ω</a:t>
            </a:r>
            <a:r>
              <a:rPr lang="zh-CN" altLang="en-US" sz="2400" baseline="-25000"/>
              <a:t>c</a:t>
            </a:r>
            <a:r>
              <a:rPr lang="zh-CN" altLang="en-US" sz="2400"/>
              <a:t>=1.02        n</a:t>
            </a:r>
            <a:r>
              <a:rPr lang="zh-CN" altLang="en-US" sz="2400" baseline="-25000"/>
              <a:t>AB</a:t>
            </a:r>
            <a:r>
              <a:rPr lang="zh-CN" altLang="en-US" sz="2400"/>
              <a:t>=40/min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P</a:t>
            </a:r>
            <a:r>
              <a:rPr lang="zh-CN" altLang="en-US" sz="2400" baseline="-25000"/>
              <a:t>w</a:t>
            </a:r>
            <a:r>
              <a:rPr lang="zh-CN" altLang="en-US" sz="2400"/>
              <a:t>=F</a:t>
            </a:r>
            <a:r>
              <a:rPr lang="zh-CN" altLang="en-US" sz="2400" baseline="-25000"/>
              <a:t>r</a:t>
            </a:r>
            <a:r>
              <a:rPr lang="zh-CN" altLang="en-US" sz="2400"/>
              <a:t>V</a:t>
            </a:r>
            <a:r>
              <a:rPr lang="zh-CN" altLang="en-US" sz="2400" baseline="-25000"/>
              <a:t>f</a:t>
            </a:r>
            <a:r>
              <a:rPr lang="zh-CN" altLang="en-US" sz="2400"/>
              <a:t>=1450.14w</a:t>
            </a: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351280" y="3152140"/>
            <a:ext cx="51136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电动机选择</a:t>
            </a:r>
            <a:r>
              <a:rPr lang="zh-CN" altLang="en-US" sz="2400">
                <a:solidFill>
                  <a:srgbClr val="FF0000"/>
                </a:solidFill>
              </a:rPr>
              <a:t>Y132S-8</a:t>
            </a:r>
            <a:r>
              <a:rPr lang="zh-CN" altLang="en-US" sz="2400"/>
              <a:t>三相异步电动机</a:t>
            </a:r>
            <a:endParaRPr lang="zh-CN" altLang="en-US" sz="2400"/>
          </a:p>
          <a:p>
            <a:r>
              <a:rPr lang="zh-CN" altLang="en-US" sz="2400"/>
              <a:t>   </a:t>
            </a:r>
            <a:endParaRPr lang="zh-CN" altLang="en-US" sz="2400"/>
          </a:p>
          <a:p>
            <a:r>
              <a:rPr lang="zh-CN" altLang="en-US" sz="2400">
                <a:solidFill>
                  <a:srgbClr val="FF0000"/>
                </a:solidFill>
              </a:rPr>
              <a:t>P</a:t>
            </a:r>
            <a:r>
              <a:rPr lang="zh-CN" altLang="en-US" sz="2400" baseline="-25000">
                <a:solidFill>
                  <a:srgbClr val="FF0000"/>
                </a:solidFill>
              </a:rPr>
              <a:t>额</a:t>
            </a:r>
            <a:r>
              <a:rPr lang="zh-CN" altLang="en-US" sz="2400">
                <a:solidFill>
                  <a:srgbClr val="FF0000"/>
                </a:solidFill>
              </a:rPr>
              <a:t>=2.2kW      </a:t>
            </a:r>
            <a:r>
              <a:rPr lang="en-US" altLang="zh-CN" sz="2400">
                <a:solidFill>
                  <a:srgbClr val="FF0000"/>
                </a:solidFill>
              </a:rPr>
              <a:t>    </a:t>
            </a:r>
            <a:r>
              <a:rPr lang="zh-CN" altLang="en-US" sz="2400">
                <a:solidFill>
                  <a:srgbClr val="FF0000"/>
                </a:solidFill>
              </a:rPr>
              <a:t>n</a:t>
            </a:r>
            <a:r>
              <a:rPr lang="zh-CN" altLang="en-US" sz="2400" baseline="-25000">
                <a:solidFill>
                  <a:srgbClr val="FF0000"/>
                </a:solidFill>
              </a:rPr>
              <a:t>额</a:t>
            </a:r>
            <a:r>
              <a:rPr lang="zh-CN" altLang="en-US" sz="2400">
                <a:solidFill>
                  <a:srgbClr val="FF0000"/>
                </a:solidFill>
              </a:rPr>
              <a:t>：750r/min</a:t>
            </a:r>
            <a:endParaRPr lang="zh-CN" altLang="en-US" sz="2400">
              <a:solidFill>
                <a:srgbClr val="FF0000"/>
              </a:solidFill>
            </a:endParaRPr>
          </a:p>
          <a:p>
            <a:endParaRPr lang="zh-CN" altLang="en-US" sz="2400"/>
          </a:p>
          <a:p>
            <a:r>
              <a:rPr lang="zh-CN" altLang="en-US" sz="2400"/>
              <a:t>中心高：132mm  基座长度：S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轴径：38mm     </a:t>
            </a:r>
            <a:r>
              <a:rPr lang="en-US" altLang="zh-CN" sz="2400"/>
              <a:t>  </a:t>
            </a:r>
            <a:r>
              <a:rPr lang="zh-CN" altLang="en-US" sz="2400"/>
              <a:t>键槽宽：10mm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轴伸长度：80mm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 rot="10800000" flipV="1">
            <a:off x="6464935" y="1362075"/>
            <a:ext cx="4969510" cy="70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solidFill>
                  <a:srgbClr val="FF0000"/>
                </a:solidFill>
              </a:rPr>
              <a:t>传动比i：</a:t>
            </a:r>
            <a:r>
              <a:rPr lang="en-US" altLang="zh-CN" sz="3600">
                <a:solidFill>
                  <a:srgbClr val="FF0000"/>
                </a:solidFill>
              </a:rPr>
              <a:t>n</a:t>
            </a:r>
            <a:r>
              <a:rPr lang="zh-CN" altLang="en-US" sz="3600" baseline="-25000">
                <a:solidFill>
                  <a:srgbClr val="FF0000"/>
                </a:solidFill>
              </a:rPr>
              <a:t>额</a:t>
            </a:r>
            <a:r>
              <a:rPr lang="en-US" altLang="zh-CN" sz="3600">
                <a:solidFill>
                  <a:srgbClr val="FF0000"/>
                </a:solidFill>
              </a:rPr>
              <a:t>/n</a:t>
            </a:r>
            <a:r>
              <a:rPr lang="en-US" altLang="zh-CN" sz="3600" baseline="-25000">
                <a:solidFill>
                  <a:srgbClr val="FF0000"/>
                </a:solidFill>
              </a:rPr>
              <a:t>AB</a:t>
            </a:r>
            <a:r>
              <a:rPr lang="en-US" altLang="zh-CN" sz="3600">
                <a:solidFill>
                  <a:srgbClr val="FF0000"/>
                </a:solidFill>
              </a:rPr>
              <a:t>=</a:t>
            </a:r>
            <a:r>
              <a:rPr lang="zh-CN" altLang="en-US" sz="3600">
                <a:solidFill>
                  <a:srgbClr val="FF0000"/>
                </a:solidFill>
              </a:rPr>
              <a:t>18.75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4935" y="2451100"/>
            <a:ext cx="4970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ŋ</a:t>
            </a:r>
            <a:r>
              <a:rPr lang="zh-CN" altLang="en-US" sz="2400" baseline="-25000">
                <a:solidFill>
                  <a:srgbClr val="FF0000"/>
                </a:solidFill>
              </a:rPr>
              <a:t>总</a:t>
            </a:r>
            <a:r>
              <a:rPr lang="zh-CN" altLang="en-US" sz="2400">
                <a:solidFill>
                  <a:srgbClr val="FF0000"/>
                </a:solidFill>
              </a:rPr>
              <a:t>=P</a:t>
            </a:r>
            <a:r>
              <a:rPr lang="zh-CN" altLang="en-US" sz="2400" baseline="-25000">
                <a:solidFill>
                  <a:srgbClr val="FF0000"/>
                </a:solidFill>
              </a:rPr>
              <a:t>w</a:t>
            </a:r>
            <a:r>
              <a:rPr lang="zh-CN" altLang="en-US" sz="2400">
                <a:solidFill>
                  <a:srgbClr val="FF0000"/>
                </a:solidFill>
              </a:rPr>
              <a:t>/P</a:t>
            </a:r>
            <a:r>
              <a:rPr lang="zh-CN" altLang="en-US" sz="2400" baseline="-25000">
                <a:solidFill>
                  <a:srgbClr val="FF0000"/>
                </a:solidFill>
              </a:rPr>
              <a:t>额</a:t>
            </a:r>
            <a:r>
              <a:rPr lang="zh-CN" altLang="en-US" sz="2400">
                <a:solidFill>
                  <a:srgbClr val="FF0000"/>
                </a:solidFill>
              </a:rPr>
              <a:t>=0.659   ŋ</a:t>
            </a:r>
            <a:r>
              <a:rPr lang="zh-CN" altLang="en-US" sz="2400" baseline="-25000">
                <a:solidFill>
                  <a:srgbClr val="FF0000"/>
                </a:solidFill>
              </a:rPr>
              <a:t>连杆</a:t>
            </a:r>
            <a:r>
              <a:rPr lang="zh-CN" altLang="en-US" sz="2400">
                <a:solidFill>
                  <a:srgbClr val="FF0000"/>
                </a:solidFill>
              </a:rPr>
              <a:t>=0.95</a:t>
            </a:r>
            <a:endParaRPr lang="zh-CN" altLang="en-US" sz="2400">
              <a:solidFill>
                <a:srgbClr val="FF0000"/>
              </a:solidFill>
            </a:endParaRPr>
          </a:p>
          <a:p>
            <a:r>
              <a:rPr lang="zh-CN" altLang="en-US" sz="2400">
                <a:solidFill>
                  <a:srgbClr val="FF0000"/>
                </a:solidFill>
              </a:rPr>
              <a:t>ŋ</a:t>
            </a:r>
            <a:r>
              <a:rPr lang="zh-CN" altLang="en-US" sz="2400" baseline="-25000">
                <a:solidFill>
                  <a:srgbClr val="FF0000"/>
                </a:solidFill>
              </a:rPr>
              <a:t>减速机</a:t>
            </a:r>
            <a:r>
              <a:rPr lang="zh-CN" altLang="en-US" sz="2400">
                <a:solidFill>
                  <a:srgbClr val="FF0000"/>
                </a:solidFill>
              </a:rPr>
              <a:t>=ŋ</a:t>
            </a:r>
            <a:r>
              <a:rPr lang="zh-CN" altLang="en-US" sz="2400" baseline="-25000">
                <a:solidFill>
                  <a:srgbClr val="FF0000"/>
                </a:solidFill>
              </a:rPr>
              <a:t>总</a:t>
            </a:r>
            <a:r>
              <a:rPr lang="zh-CN" altLang="en-US" sz="2400">
                <a:solidFill>
                  <a:srgbClr val="FF0000"/>
                </a:solidFill>
              </a:rPr>
              <a:t>/ŋ</a:t>
            </a:r>
            <a:r>
              <a:rPr lang="zh-CN" altLang="en-US" sz="2400" baseline="-25000">
                <a:solidFill>
                  <a:srgbClr val="FF0000"/>
                </a:solidFill>
              </a:rPr>
              <a:t>连杆</a:t>
            </a:r>
            <a:r>
              <a:rPr lang="zh-CN" altLang="en-US" sz="2400">
                <a:solidFill>
                  <a:srgbClr val="FF0000"/>
                </a:solidFill>
              </a:rPr>
              <a:t>=0.694</a:t>
            </a:r>
            <a:endParaRPr lang="zh-CN" altLang="en-US" sz="2400">
              <a:solidFill>
                <a:srgbClr val="FF0000"/>
              </a:solidFill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3280" y="403225"/>
            <a:ext cx="4968240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solidFill>
                  <a:srgbClr val="00B0F0"/>
                </a:solidFill>
              </a:rPr>
              <a:t>采用展开式二级减速器</a:t>
            </a:r>
            <a:endParaRPr lang="zh-CN" altLang="en-US" sz="3600">
              <a:solidFill>
                <a:srgbClr val="00B0F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753" t="1088" r="-543" b="12126"/>
          <a:stretch>
            <a:fillRect/>
          </a:stretch>
        </p:blipFill>
        <p:spPr>
          <a:xfrm>
            <a:off x="297815" y="1072515"/>
            <a:ext cx="5586730" cy="4053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45" y="1072515"/>
            <a:ext cx="5217160" cy="3429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3280" y="5341620"/>
            <a:ext cx="5171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i</a:t>
            </a:r>
            <a:r>
              <a:rPr lang="en-US" altLang="zh-CN" sz="2400" baseline="-250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≈1.3~1.4i</a:t>
            </a:r>
            <a:r>
              <a:rPr lang="en-US" altLang="zh-CN" sz="2400" baseline="-25000">
                <a:solidFill>
                  <a:srgbClr val="FF0000"/>
                </a:solidFill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   </a:t>
            </a:r>
            <a:r>
              <a:rPr lang="zh-CN" altLang="en-US" sz="2400">
                <a:solidFill>
                  <a:srgbClr val="FF0000"/>
                </a:solidFill>
              </a:rPr>
              <a:t>取</a:t>
            </a:r>
            <a:r>
              <a:rPr lang="en-US" altLang="zh-CN" sz="2400">
                <a:solidFill>
                  <a:srgbClr val="FF0000"/>
                </a:solidFill>
              </a:rPr>
              <a:t>1.3 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⇒i</a:t>
            </a:r>
            <a:r>
              <a:rPr lang="en-US" altLang="zh-CN" sz="2400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=4.94  i</a:t>
            </a:r>
            <a:r>
              <a:rPr lang="en-US" altLang="zh-CN" sz="2400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=3.80    i=18.77</a:t>
            </a:r>
            <a:endParaRPr lang="en-US" altLang="zh-CN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69570" y="2312035"/>
            <a:ext cx="8539480" cy="2526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P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输出轴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=P</a:t>
            </a:r>
            <a:r>
              <a:rPr lang="en-US" altLang="zh-CN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w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/(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ŋ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连杆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∙ŋ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联轴器</a:t>
            </a:r>
            <a:r>
              <a:rPr lang="en-US" altLang="zh-CN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)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=15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90.06w</a:t>
            </a:r>
            <a:endParaRPr lang="en-US" altLang="zh-CN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sym typeface="+mn-ea"/>
            </a:endParaRPr>
          </a:p>
          <a:p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输出轴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=P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输出轴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/2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лn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=379.60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∙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</a:t>
            </a:r>
            <a:endParaRPr lang="en-US" altLang="zh-CN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ŋ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减速器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sym typeface="+mn-ea"/>
              </a:rPr>
              <a:t>0.93</a:t>
            </a:r>
            <a:endParaRPr lang="en-US" altLang="zh-CN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sym typeface="+mn-ea"/>
            </a:endParaRPr>
          </a:p>
          <a:p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P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输入轴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=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P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输出轴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/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ŋ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减速器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=1709.74w</a:t>
            </a:r>
            <a:endParaRPr lang="en-US" altLang="zh-CN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T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输入轴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=P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输入轴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/2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лn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额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=21.77N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∙</a:t>
            </a:r>
            <a:r>
              <a:rPr lang="en-US" altLang="zh-CN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en-US" altLang="zh-CN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sym typeface="+mn-ea"/>
            </a:endParaRPr>
          </a:p>
          <a:p>
            <a:endParaRPr lang="en-US" altLang="zh-CN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9570" y="372745"/>
            <a:ext cx="51339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联轴器1选用蛇形弹簧联轴器</a:t>
            </a:r>
            <a:endParaRPr lang="zh-CN" altLang="en-US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pPr algn="l">
              <a:buClrTx/>
              <a:buSzTx/>
              <a:buNone/>
            </a:pP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ŋ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联轴器1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=0.98</a:t>
            </a:r>
            <a:endParaRPr lang="zh-CN" altLang="en-US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pPr algn="l">
              <a:buClrTx/>
              <a:buSzTx/>
              <a:buNone/>
            </a:pP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联轴器2选用摩擦式安全联轴器</a:t>
            </a:r>
            <a:endParaRPr lang="zh-CN" altLang="en-US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pPr algn="l">
              <a:buClrTx/>
              <a:buSzTx/>
              <a:buNone/>
            </a:pP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ŋ</a:t>
            </a:r>
            <a:r>
              <a:rPr lang="zh-CN" altLang="en-US" sz="2400" baseline="-250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联轴器2</a:t>
            </a:r>
            <a:r>
              <a:rPr lang="zh-CN" altLang="en-US" sz="240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=0.96</a:t>
            </a:r>
            <a:endParaRPr lang="zh-CN" altLang="en-US" sz="240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442720" y="622300"/>
          <a:ext cx="8531860" cy="6278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2559685"/>
                <a:gridCol w="2386965"/>
                <a:gridCol w="251904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高速齿轮副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低速齿轮副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模数（</a:t>
                      </a:r>
                      <a:r>
                        <a:rPr lang="en-US" altLang="zh-CN"/>
                        <a:t>mm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2.5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4.0</a:t>
                      </a:r>
                      <a:endParaRPr lang="en-US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β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螺旋角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16</a:t>
                      </a:r>
                      <a:r>
                        <a:rPr lang="zh-CN" altLang="en-US"/>
                        <a:t>°</a:t>
                      </a:r>
                      <a:r>
                        <a:rPr lang="en-US" altLang="zh-CN"/>
                        <a:t>19′33″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≈16.33</a:t>
                      </a:r>
                      <a:r>
                        <a:rPr lang="zh-CN" altLang="en-US"/>
                        <a:t>°）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16</a:t>
                      </a:r>
                      <a:r>
                        <a:rPr lang="zh-CN" altLang="en-US"/>
                        <a:t>°</a:t>
                      </a:r>
                      <a:r>
                        <a:rPr lang="en-US" altLang="zh-CN"/>
                        <a:t>15′36″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≈16.26</a:t>
                      </a:r>
                      <a:r>
                        <a:rPr lang="zh-CN" altLang="en-US"/>
                        <a:t>°）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传动比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4.95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3.80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Z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齿数（小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大）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20 / 99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20 / 76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分度圆直径（</a:t>
                      </a:r>
                      <a:r>
                        <a:rPr lang="en-US" altLang="zh-CN"/>
                        <a:t>mm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52.101 / 257.899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82.449 / 316.666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中心距（</a:t>
                      </a:r>
                      <a:r>
                        <a:rPr lang="en-US" altLang="zh-CN"/>
                        <a:t>mm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155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200</a:t>
                      </a:r>
                      <a:endParaRPr lang="en-US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齿宽（</a:t>
                      </a:r>
                      <a:r>
                        <a:rPr lang="en-US" altLang="zh-CN"/>
                        <a:t>mm</a:t>
                      </a:r>
                      <a:r>
                        <a:rPr lang="zh-CN" altLang="en-US"/>
                        <a:t>）（小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大）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57 / 50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87 / 80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σH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接触应力（</a:t>
                      </a:r>
                      <a:r>
                        <a:rPr lang="en-US" altLang="zh-CN"/>
                        <a:t>MPa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327.8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366.1</a:t>
                      </a:r>
                      <a:endParaRPr lang="en-US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[σ]H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许用接触应力（</a:t>
                      </a:r>
                      <a:r>
                        <a:rPr lang="en-US" altLang="zh-CN"/>
                        <a:t>MPa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399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437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σF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弯曲应力（</a:t>
                      </a:r>
                      <a:r>
                        <a:rPr lang="en-US" altLang="zh-CN"/>
                        <a:t>MPa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34.2 / 29.6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40.2 / 37.3</a:t>
                      </a:r>
                      <a:endParaRPr lang="en-US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[σ]F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许用弯曲应力（</a:t>
                      </a:r>
                      <a:r>
                        <a:rPr lang="en-US" altLang="zh-CN"/>
                        <a:t>MPa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192 / 152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192 / 152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TABLE_ENDDRAG_ORIGIN_RECT" val="671*439"/>
  <p:tag name="TABLE_ENDDRAG_RECT" val="144*57*671*439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WPS 演示</Application>
  <PresentationFormat>宽屏</PresentationFormat>
  <Paragraphs>172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机械课程设计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煜辰</cp:lastModifiedBy>
  <cp:revision>163</cp:revision>
  <dcterms:created xsi:type="dcterms:W3CDTF">2019-06-19T02:08:00Z</dcterms:created>
  <dcterms:modified xsi:type="dcterms:W3CDTF">2026-10-07T13:53:00Z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45C5BD535BA3460EA046DA0CEDCF48BE_13</vt:lpwstr>
  </property>
</Properties>
</file>